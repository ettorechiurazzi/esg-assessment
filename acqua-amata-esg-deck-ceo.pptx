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C3D4"/>
                </a:solidFill>
              </a:rPr>
              <a:t>ESG QUICK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4FC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Acqua Amata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4FC3D4"/>
                </a:solidFill>
              </a:rPr>
              <a:t>Società Benefit pugliese — Brand ESG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DDFF"/>
                </a:solidFill>
              </a:rPr>
              <a:t>Settore: Acqua minerale oligominerale — GDO, HORECA, Vending</a:t>
            </a:r>
          </a:p>
          <a:p>
            <a:r>
              <a:rPr sz="1500" b="0">
                <a:solidFill>
                  <a:srgbClr val="CCDDFF"/>
                </a:solidFill>
              </a:rPr>
              <a:t>Sede: Casamassima (BA) — Castello S.r.l., distribuzione nazionale</a:t>
            </a:r>
          </a:p>
          <a:p>
            <a:r>
              <a:rPr sz="1500" b="0">
                <a:solidFill>
                  <a:srgbClr val="CCDDFF"/>
                </a:solidFill>
              </a:rPr>
              <a:t>Data analisi: Luglio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99BB"/>
                </a:solidFill>
              </a:rPr>
              <a:t>Confidenziale — Solo uso interno · Basato su ricerca pubblica, confidence 5/10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5989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FC3D4"/>
                </a:solidFill>
              </a:rPr>
              <a:t>13 /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053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99BB"/>
                </a:solidFill>
              </a:rPr>
              <a:t>Score complessivo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Snapshot del Brand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Analisi ESG — E / S / 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Gap di Comunicazione e Percezione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716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Benchmark Competitivo — Lista HORECA/GDO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7432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Raccomandazioni Strategiche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Scorecard Finale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— Snapshot del Brand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Chi è Acqua Amata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💧  Fonte scoperta nel 1990 (G.A. Mazzone) — Casamassima/Adelfia (BA)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📅  Riconoscimento acqua minerale 1998 — imbottigliata dal 2001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🏭  Società operativa: Castello S.r.l. — Società Benefit dal 2024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🏢  Gruppo: MGA Group (dal 2021) — [Non verificato]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🛒  Canali: GDO, Vending, HORECA — anche private label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♻️   Packaging: PET 100% riciclabile dal 2001, R-PET dal 2019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📈  Volumi: ~100M bottiglie/anno (2021) → target 500M entro 2027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💶  Investimento dichiarato: 20 mln € nello stabilimento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🏆  Forbes 100 Eccellenze 2021, Leader Crescita 2026 (Sole24Ore)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669280" cy="2377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FC3D4"/>
                </a:solidFill>
              </a:rPr>
              <a:t>Società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Doppio scopo di legge: profitto + beneficio comune —
asset legale, non solo comunicativo, dal 2024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749039"/>
            <a:ext cx="566928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749039"/>
            <a:ext cx="5669280" cy="411480"/>
          </a:xfrm>
          <a:prstGeom prst="rect">
            <a:avLst/>
          </a:prstGeom>
          <a:solidFill>
            <a:srgbClr val="4FC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8039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Tensione strategica ESG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2519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sz="1300" b="0">
                <a:solidFill>
                  <a:srgbClr val="2C2C2C"/>
                </a:solidFill>
              </a:rPr>
              <a:t>✅  Crescita commerciale ben comunicata (premi, stampa)</a:t>
            </a:r>
          </a:p>
          <a:p>
            <a:pPr>
              <a:lnSpc>
                <a:spcPts val="2000"/>
              </a:lnSpc>
            </a:pPr>
            <a:r>
              <a:rPr sz="1300" b="0">
                <a:solidFill>
                  <a:srgbClr val="2C2C2C"/>
                </a:solidFill>
              </a:rPr>
              <a:t>⚠️   Performance ESG quasi interamente self-reported</a:t>
            </a:r>
          </a:p>
          <a:p>
            <a:pPr>
              <a:lnSpc>
                <a:spcPts val="2000"/>
              </a:lnSpc>
            </a:pPr>
            <a:r>
              <a:rPr sz="1300" b="0">
                <a:solidFill>
                  <a:srgbClr val="2C2C2C"/>
                </a:solidFill>
              </a:rPr>
              <a:t>💡  Nessun audit terzo sui claim ambientali reperito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— Analisi ESG  |  E — Environmental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37160"/>
            <a:ext cx="2286000" cy="685800"/>
          </a:xfrm>
          <a:prstGeom prst="rect">
            <a:avLst/>
          </a:prstGeom>
          <a:solidFill>
            <a:srgbClr val="1D8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2011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🟡  PARTIAL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Cosa c'è (self-reported)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Certificazione ISO 14001 — dichiarata dal 2001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Certificazione IFS FOOD — dichiarata dal 2018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Fotovoltaico: -542 t CO2/anno dichiarate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Target aziendale: -25% emissioni entro il 2026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Packaging PET 100% riciclabile dal 2001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Linea R-PET introdotta dal 2019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100% energia da rinnovabili in stabilimento (claim)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Recupero 99% dei rifiuti (claim)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43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 Cosa manca (pubblicamente)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Nessun audit terzo indipendente sui claim ambientali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% esatta di R-PET nella gamma corrente: non disponibile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ISO 9001, ISO 22000, BRC, biologico: dato non trovato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Nessun dato su prelievi/bilancio idrogeologico della falda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Nessun KPI ambientale in formato bilancio strutturato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• Nessuna verifica indipendente su -25% CO2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— Analisi ESG  |  S — Social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37160"/>
            <a:ext cx="2286000" cy="6858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2011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🟡  PARTIAL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🏆 Riconoscimenti di stampa/settore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Forbes 100 Eccellenze (2021) · Prodotto dell'Anno 2022 · Industria Felix
Leader Crescita 2026 e Stelle del Sud 2024 (Sole 24 Ore/Statista)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⚽ Sponsorizzazioni territoriali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Radionorba Vodafone Battiti Live! (dal 2017)
Main sponsor SSC Bari (almeno stagione 2022/23)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5778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221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Presenza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Instagram ~13.000 follower · Facebook ~16.500 "mi piace"
LinkedIn ~4.400 follower (11-50 dipendenti dichiarati) · TikTok presente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5778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Lacuna sociale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</a:rPr>
              <a:t>Nessun dato pubblico su condizioni di lavoro, welfare,
diversità/inclusione o relazioni con la comunità locale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336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2C2C"/>
                </a:solidFill>
              </a:rPr>
              <a:t>⚠️  I premi ottenuti certificano crescita/notorietà commerciale, non performance ESG in senso proprio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— Analisi ESG  |  G —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0" y="137160"/>
            <a:ext cx="2286000" cy="685800"/>
          </a:xfrm>
          <a:prstGeom prst="rect">
            <a:avLst/>
          </a:prstGeom>
          <a:solidFill>
            <a:srgbClr val="1A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46920" y="2011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🟡  PARTIAL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435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Cosa c'è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7830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Società Benefit dal 2024 — asset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legale vincolante, non solo comunicativo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Investimento dichiarato 18 mln €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(2024) per innovazione/sostenibilità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Presidente CdA: Maria Mazzone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Governance familiare stabile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(famiglia Mazzone/Avella)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749039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435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Incertezze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7830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Ruolo Matteo Avella discordante: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"AD" (stampa) vs "Vicepresidente"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(LinkedIn) — non risolto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Relazione d'impatto Società Benefit: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non reperita pubblicamente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Rapporto con MGA Group: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non verificato su fonte primaria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74903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49039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24358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❌ Assente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7830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Bilancio di sostenibilità formale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Codice etico pubblico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Organigramma management pubblico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Policy su conflitti di interesse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Dati camerali completi (capitale</a:t>
            </a:r>
          </a:p>
          <a:p>
            <a:pPr>
              <a:lnSpc>
                <a:spcPts val="1700"/>
              </a:lnSpc>
            </a:pPr>
            <a:r>
              <a:rPr sz="1200" b="0">
                <a:solidFill>
                  <a:srgbClr val="2C2C2C"/>
                </a:solidFill>
              </a:rPr>
              <a:t>sociale, composizione CdA)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— Gap di Comunicazione e Percezione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22960" cy="23774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Crescita comunicata, ESG poco misurabile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78308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Premi e classifiche (Leader Crescita, Stelle del Sud, Industria Felix)
certificano fatturato/volumi, non performance ambientali o sociali.
→ Rischio: comunicare 'successo' senza KPI ESG verificabili.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822960" cy="23774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2801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Cifre finanziarie non riconciliate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78308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Fonti di stampa riportano fatturati incoerenti (7,7 mln 2021;
9,2 mln Castello 2023; +43% 2021-24; +45% 2023 vs 2019).
→ Mina la credibilità di qualunque KPI ESG relativo.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822960" cy="23774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404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Assenza di bilancio di sostenibilità formale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4340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Target dichiarati (-25% CO2 2026) e investimenti (18 mln €)
senza un documento GRI/VSME o relazione d'impatto strutturata.
→ Nessun KPI verificabile con metodologia riconosciuta.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749039"/>
            <a:ext cx="5577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822960" cy="23774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GAP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8404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Ambiguità di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343400"/>
            <a:ext cx="4480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Ruolo di Matteo Avella discordante tra fonti (AD vs Vicepresidente).
Segnale minore ma reale di comunicazione societaria non coerente.
→ Da correggere per credibilità verso stakeholder finanziari/ESG.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— Benchmark Competitivo — Lista Proposta HORECA/GDO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51560"/>
            <a:ext cx="237744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051560"/>
            <a:ext cx="11887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0972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051560"/>
            <a:ext cx="256032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109728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Canali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051560"/>
            <a:ext cx="5029200" cy="3840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Nota ESG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481328"/>
            <a:ext cx="2377440" cy="40233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53619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Acqua Amata 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481328"/>
            <a:ext cx="1188720" cy="40233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554480"/>
            <a:ext cx="137160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727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ACQUA AMATA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481328"/>
            <a:ext cx="2560320" cy="40233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1545336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Vending + HORECA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481328"/>
            <a:ext cx="5029200" cy="402336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527048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Società Benefit (2024); dati ESG self-reported, no audit terzo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06524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19613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Acqua Orsini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1906524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97480" y="1979676"/>
            <a:ext cx="1005840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19979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1906524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1970531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 (espansione)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906524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1952243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Uso misurato falde, rinnovabili; certificazioni non verificate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331720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238658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Gaudianello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331720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97480" y="2404872"/>
            <a:ext cx="1005840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2423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2331720"/>
            <a:ext cx="2560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13632" y="2395728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331720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2377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ISO 9001/14001/22000; filiera agricola bio certificata ICEA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2756916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81178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Fonte Cutolo Rionero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06040" y="2756916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97480" y="2830068"/>
            <a:ext cx="1005840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28483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2756916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13632" y="2820924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2756916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2802636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Marchio storico lucano, rilanciato da San Benedetto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3182112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323697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Fonte Margherita 1845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182112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97480" y="3255264"/>
            <a:ext cx="1005840" cy="2743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32735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3182112"/>
            <a:ext cx="2560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24612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HORECA + porta a porta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3182112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9672" y="3227832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Packaging brick eco-sostenibile oltre al vetro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3607308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" y="366217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Lete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3607308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97480" y="3680460"/>
            <a:ext cx="10058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0" y="36987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3607308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13632" y="3671316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 + porta a porta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46520" y="3607308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19672" y="3653028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Energia 100% verde dal 2004 (RECS); socio fondatore Coripet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032504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Ferrarelle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4032504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97480" y="4105656"/>
            <a:ext cx="10058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0" y="41239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4032504"/>
            <a:ext cx="2560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13632" y="4096512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 (linee dedicate)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46520" y="4032504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19672" y="4078224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Società Benefit dal 2021; impianto proprio riciclo PET &gt;27 mln 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457700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451256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San Benedetto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06040" y="4457700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97480" y="4530852"/>
            <a:ext cx="100584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0" y="45491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40480" y="4457700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913632" y="4521708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 (leader volume)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46520" y="4457700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9672" y="450342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Linea Ecogreen 100% RPET; bilancio di sostenibilità pubblicato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2880" y="4882896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" y="4937759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Acqua Sant'Anna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06040" y="4882896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97480" y="4956048"/>
            <a:ext cx="1005840" cy="274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0" y="49743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40480" y="4882896"/>
            <a:ext cx="2560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913632" y="4946904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(leader) + HORECA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46520" y="4882896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19672" y="4928616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Bottiglia Bio in PLA; decarbonizzazione logistica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82880" y="5308092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6032" y="536295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San Bernardo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06040" y="5308092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97480" y="5381244"/>
            <a:ext cx="1005840" cy="274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0" y="53995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0" y="5308092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13632" y="5372100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46520" y="5308092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19672" y="5353812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Obiettivo "Impatto Zero" 2026; #1 test Gambero Rosso 2023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82880" y="5733288"/>
            <a:ext cx="23774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56032" y="5788152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Uliveto / Rocchetta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06040" y="5733288"/>
            <a:ext cx="11887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697480" y="5806440"/>
            <a:ext cx="1005840" cy="274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0" y="58247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40480" y="5733288"/>
            <a:ext cx="25603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13632" y="5797296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46520" y="5733288"/>
            <a:ext cx="5029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519672" y="5779008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Garanzia di Origine per energia 100% solare (2024/25)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2880" y="6158484"/>
            <a:ext cx="237744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56032" y="62133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</a:rPr>
              <a:t>Lauretana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606040" y="6158484"/>
            <a:ext cx="11887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97480" y="6231636"/>
            <a:ext cx="1005840" cy="27432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743200" y="62499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TIER 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40480" y="6158484"/>
            <a:ext cx="256032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913632" y="6222492"/>
            <a:ext cx="245059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</a:rPr>
              <a:t>GDO + HORECA premium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46520" y="6158484"/>
            <a:ext cx="5029200" cy="4023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519672" y="6204204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2C2C"/>
                </a:solidFill>
              </a:rPr>
              <a:t>EcoVadis Argento → Oro → Platino (anni non tutti certi)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— Raccomandazioni  |  Quick Wins  (&lt;6 mesi)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39" y="1234440"/>
            <a:ext cx="1097280" cy="347472"/>
          </a:xfrm>
          <a:prstGeom prst="rect">
            <a:avLst/>
          </a:prstGeom>
          <a:solidFill>
            <a:srgbClr val="1D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52927" y="1252728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&lt; 3 mesi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Riconciliare le Cifre Finanziarie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Pubblicare fatturato e volumi coerenti in un'unica
fonte ufficiale (sito, comunicati), per eliminare le
discrepanze già rilevate dalla stampa di settore.
→ Costo: basso | Impatto: credibilità verso stakeholder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49039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79" y="1234440"/>
            <a:ext cx="1097280" cy="347472"/>
          </a:xfrm>
          <a:prstGeom prst="rect">
            <a:avLst/>
          </a:prstGeom>
          <a:solidFill>
            <a:srgbClr val="1D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7" y="1252728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&lt; 3 mesi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2435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17556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Certificati Online e Verificabili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3317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Pubblicare i certificati ISO 14001 e IFS FOOD con
link diretto all'ente certificatore, non solo menzione
testuale sul sito aziendale.
→ Costo: basso | Impatto: immediato su buyer GDO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49039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0" y="1234440"/>
            <a:ext cx="1097280" cy="347472"/>
          </a:xfrm>
          <a:prstGeom prst="rect">
            <a:avLst/>
          </a:prstGeom>
          <a:solidFill>
            <a:srgbClr val="1D6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08208" y="1252728"/>
            <a:ext cx="106070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&lt; 6 mesi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24358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QW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556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Chiarire i Ruoli di Governance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317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Comunicare pubblicamente in modo univoco la
composizione del CdA e i ruoli (es. Matteo Avella),
eliminando le discordanze tra fonti.
→ Costo: basso | Impatto: credibilità istituzionale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— Raccomandazioni  |  Strategic Gaps + Differenziazione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772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64008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Relazione d'Impatto da Società Benefit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280160"/>
            <a:ext cx="17830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29844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12–24 mesi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Prima relazione di impatto con KPI E/S/G misurabili,
coerente con l'obbligo di legge italiano per le Società Benefit
→ Trasforma lo status legale in narrativa verificabile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80360"/>
            <a:ext cx="7772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80360"/>
            <a:ext cx="64008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383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535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Bilancio di Sostenibilità Formale (GRI/VSME)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971800"/>
            <a:ext cx="17830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99008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18–24 mesi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Standard GRI o VSME (PMI-friendly, EFRAG/CSRD)
Prioritario vista la crescita dichiarata 100M→500M bottiglie/anno
→ Requisito emergente nei tender dei buyer GDO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77724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640080" cy="1554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074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Audit Terzo sui Claim Ambientali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663440"/>
            <a:ext cx="1783080" cy="3474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468172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12–18 mesi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38928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</a:rPr>
              <a:t>Verifica indipendente di fotovoltaico, target -25% CO2,
% RPET e recupero rifiuti, oggi solo auto-dichiarati
→ Trasforma i claim aziendali in dati certificati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188720"/>
            <a:ext cx="3566160" cy="5074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188720"/>
            <a:ext cx="3566160" cy="502920"/>
          </a:xfrm>
          <a:prstGeom prst="rect">
            <a:avLst/>
          </a:prstGeom>
          <a:solidFill>
            <a:srgbClr val="4FC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💡 Differenziazione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828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"Doppio Scopo
di Legge"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3464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C3D4"/>
                </a:solidFill>
              </a:rPr>
              <a:t>Tra i competitor del panel,
solo Ferrarelle condivide lo
status di Società Benefit.
→ Narrativa costruita su un
   obbligo di legge, non solo
   un claim di marketing.
→ Rilevante sia per buyer GDO
   sia per il canale HORECA
   sostenibile.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06 — Scorecard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Identity–Communication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216152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1216152"/>
            <a:ext cx="1645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1887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188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Crescita ben comunicata; ESG sostanzialmente self-reported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ESG Coverage — Environmental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020824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020824"/>
            <a:ext cx="1645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993391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9933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Certificazioni e target dichiarati, nessun audit terzo reperito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523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ESG Coverage — Social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825496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825496"/>
            <a:ext cx="1645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2798063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9806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Radicamento territoriale forte; assenza dati su lavoro/persone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570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ESG Coverage — Governance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630168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630168"/>
            <a:ext cx="1645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36027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2/5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027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Società Benefit è asset reale; opacità su ruoli CdA e dati camerali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3616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Communication–Perception 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434840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4434840"/>
            <a:ext cx="16459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4407407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7E22"/>
                </a:solidFill>
              </a:rPr>
              <a:t>2/5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40740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Cifre finanziarie incongruenti tra fonti di stampa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Competitor Positioning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239512"/>
            <a:ext cx="4114800" cy="274320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5239512"/>
            <a:ext cx="24688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521208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3/5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52120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C3D4"/>
                </a:solidFill>
              </a:rPr>
              <a:t>Ben posizionata su crescita; dietro a Ferrarelle/San Bernardo su ESG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89320"/>
            <a:ext cx="11612880" cy="6858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 TOTALE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01675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13 / 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1081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Buona base di crescita — ESG ancora da strutturare e certificare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Prossimi Passi — Roadmap ESG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657600" cy="52120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731520"/>
          </a:xfrm>
          <a:prstGeom prst="rect">
            <a:avLst/>
          </a:prstGeom>
          <a:solidFill>
            <a:srgbClr val="4FC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D2B55"/>
                </a:solidFill>
              </a:rPr>
              <a:t>&lt; 3 mesi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Riconciliare cifre finanziarie pubbliche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Pubblicare certificati verificabili online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Chiarire pubblicamente i ruoli di CdA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657600" cy="52120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25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FFFFFF"/>
                </a:solidFill>
              </a:rPr>
              <a:t>3–18 mesi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Audit terzo sui claim ambientali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Prima relazione d'impatto Società Benefit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KPI pubblici sulla crescita produttiva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(100M → 500M bottiglie/anno)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657600" cy="521208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7315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FFFFFF"/>
                </a:solidFill>
              </a:rPr>
              <a:t>18–36 mesi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488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Bilancio di sostenibilità formale (GRI/VSME)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Certificazioni aggiuntive (ISO 9001/22000)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Narrativa strutturata sul "doppio scopo"</a:t>
            </a:r>
          </a:p>
          <a:p>
            <a:pPr>
              <a:lnSpc>
                <a:spcPts val="2200"/>
              </a:lnSpc>
            </a:pPr>
            <a:r>
              <a:rPr sz="1300" b="0">
                <a:solidFill>
                  <a:srgbClr val="FFFFFF"/>
                </a:solidFill>
              </a:rPr>
              <a:t>• di legge come Società Benefit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989320"/>
            <a:ext cx="11612880" cy="685800"/>
          </a:xfrm>
          <a:prstGeom prst="rect">
            <a:avLst/>
          </a:prstGeom>
          <a:solidFill>
            <a:srgbClr val="08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FC3D4"/>
                </a:solidFill>
              </a:rPr>
              <a:t>"Acqua Amata cresce più velocemente di quanto certifichi. Il compito dei prossimi 12 mesi è rendere l'ESG misurabile."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